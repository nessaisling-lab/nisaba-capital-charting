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0:00 — 0:40 · 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800" b="1" i="0">
                <a:solidFill>
                  <a:srgbClr val="C9A44A"/>
                </a:solidFill>
                <a:latin typeface="Georgia"/>
              </a:rPr>
              <a:t>Charting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1">
                <a:solidFill>
                  <a:srgbClr val="C8B88E"/>
                </a:solidFill>
                <a:latin typeface="Calibri"/>
              </a:rPr>
              <a:t>A financial intelligence platform at the intersection of astrology and Wall Street.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200400"/>
            <a:ext cx="38100" cy="1097280"/>
          </a:xfrm>
          <a:prstGeom prst="rect">
            <a:avLst/>
          </a:prstGeom>
          <a:solidFill>
            <a:srgbClr val="C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324612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1">
                <a:solidFill>
                  <a:srgbClr val="F3ECD8"/>
                </a:solidFill>
                <a:latin typeface="Georgia"/>
              </a:rPr>
              <a:t>“Millionaires don’t use astrology. Billionaires do.”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4160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8B88E"/>
                </a:solidFill>
                <a:latin typeface="Calibri"/>
              </a:rPr>
              <a:t>— attributed to J.P. Morgan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57200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Whether or not he said it, what is documented:  </a:t>
            </a:r>
            <a:r>
              <a:rPr sz="1300" b="1" i="0">
                <a:solidFill>
                  <a:srgbClr val="FFD86B"/>
                </a:solidFill>
                <a:latin typeface="Calibri"/>
              </a:rPr>
              <a:t>Morgan kept the most famous astrologer in America, Evangeline Adams, on retainer for investment advice.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C8B88E"/>
                </a:solidFill>
                <a:latin typeface="Calibri"/>
              </a:rPr>
              <a:t>This intersection isn’t fringe. It’s hidden. I’m Aisling. I believe in astrology. So I built the tool these guys had to invent themselves.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C7D57"/>
                </a:solidFill>
                <a:latin typeface="Calibri"/>
              </a:rPr>
              <a:t>AISLING LEIVA  ·  PURSUIT NYC FELLOWSHIP  ·  FINAL 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Open with the quote. Pause 3s. Then the hedge: "whether or not he said it, what is documented..." Land on Adams’ retainer. Drop the closing tag: "Not fringe. Hidden. I’m Aisling. I believe. So I built it." Pace 130 wpm — slower than instinct.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0:25 — 1:00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THE LINEAGE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9A44A"/>
                </a:solidFill>
                <a:latin typeface="Georgia"/>
              </a:rPr>
              <a:t>This intersection isn’t fringe. It’s </a:t>
            </a:r>
            <a:r>
              <a:rPr sz="3600" b="1" i="0">
                <a:solidFill>
                  <a:srgbClr val="FFD86B"/>
                </a:solidFill>
                <a:latin typeface="Georgia"/>
              </a:rPr>
              <a:t>hidden.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867660"/>
            <a:ext cx="1091153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D86B"/>
                </a:solidFill>
                <a:latin typeface="Calibri"/>
              </a:rPr>
              <a:t>J.P. Morgan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3774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B88E"/>
                </a:solidFill>
                <a:latin typeface="Calibri"/>
              </a:rPr>
              <a:t>1890s-1913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77440"/>
            <a:ext cx="74368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ECD8"/>
                </a:solidFill>
                <a:latin typeface="Calibri"/>
              </a:rPr>
              <a:t>Kept astrologer Evangeline Adams on retainer. Documented in Adams’ 1926 autobiography.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62020"/>
            <a:ext cx="1091153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D86B"/>
                </a:solidFill>
                <a:latin typeface="Calibri"/>
              </a:rPr>
              <a:t>W.D. Gann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97180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B88E"/>
                </a:solidFill>
                <a:latin typeface="Calibri"/>
              </a:rPr>
              <a:t>1908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971800"/>
            <a:ext cx="74368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ECD8"/>
                </a:solidFill>
                <a:latin typeface="Calibri"/>
              </a:rPr>
              <a:t>Founded W.D. Gann &amp; Company. Truth of the Stock Tape (1924) praised by The Wall Street Journal.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56380"/>
            <a:ext cx="1091153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D86B"/>
                </a:solidFill>
                <a:latin typeface="Calibri"/>
              </a:rPr>
              <a:t>Donald Bradley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56616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B88E"/>
                </a:solidFill>
                <a:latin typeface="Calibri"/>
              </a:rPr>
              <a:t>1948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566160"/>
            <a:ext cx="74368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ECD8"/>
                </a:solidFill>
                <a:latin typeface="Calibri"/>
              </a:rPr>
              <a:t>Stock Market Prediction. Bradley Siderograph — planetary index for stock turning points. Still tracked today.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650740"/>
            <a:ext cx="1091153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D86B"/>
                </a:solidFill>
                <a:latin typeface="Calibri"/>
              </a:rPr>
              <a:t>Arch Crawford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416052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8B88E"/>
                </a:solidFill>
                <a:latin typeface="Calibri"/>
              </a:rPr>
              <a:t>1977-present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160520"/>
            <a:ext cx="743681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ECD8"/>
                </a:solidFill>
                <a:latin typeface="Calibri"/>
              </a:rPr>
              <a:t>Founded Crawford Perspectives. Predicted 1987 crash to the day. #1 market timer 2008+2009 by Hulbert Financial Digest.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029200"/>
            <a:ext cx="10911535" cy="77724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029200"/>
            <a:ext cx="54864" cy="777240"/>
          </a:xfrm>
          <a:prstGeom prst="rect">
            <a:avLst/>
          </a:prstGeom>
          <a:solidFill>
            <a:srgbClr val="C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2064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F3ECD8"/>
                </a:solidFill>
                <a:latin typeface="Calibri"/>
              </a:rPr>
              <a:t>Existing tools serving this market are PHP scripts and Python notebooks. Newsletters charge $1,200/year. The market exists. The production-grade platform doesn’t.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Walk 3 names: Morgan, Gann, Crawford. The Crawford line is strongest — “ranked #1 market timer in 2008 and 2009 by Hulbert Financial Digest.” Hedge Morgan as “attributed.” Land on the gap: market exists, no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1:00 — 1:25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9A44A"/>
                </a:solidFill>
                <a:latin typeface="Georgia"/>
              </a:rPr>
              <a:t>Charting Capital  ·  three tiers, three audiences, one engine.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515258" cy="777240"/>
          </a:xfrm>
          <a:prstGeom prst="rect">
            <a:avLst/>
          </a:prstGeom>
          <a:solidFill>
            <a:srgbClr val="1F1A14"/>
          </a:solidFill>
          <a:ln w="12700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2409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ECD8"/>
                </a:solidFill>
                <a:latin typeface="Calibri"/>
              </a:rPr>
              <a:t>For the curious. View any ticker’s natal chart + Lagrange score.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828800"/>
            <a:ext cx="3515258" cy="777240"/>
          </a:xfrm>
          <a:prstGeom prst="rect">
            <a:avLst/>
          </a:prstGeom>
          <a:solidFill>
            <a:srgbClr val="1F1A14"/>
          </a:solidFill>
          <a:ln w="12700">
            <a:solidFill>
              <a:srgbClr val="C9A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192024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194560"/>
            <a:ext cx="32409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ECD8"/>
                </a:solidFill>
                <a:latin typeface="Calibri"/>
              </a:rPr>
              <a:t>For paper traders. Backtest + auto-trading sim.  +37% ROI verified.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36356" y="1828800"/>
            <a:ext cx="3515258" cy="777240"/>
          </a:xfrm>
          <a:prstGeom prst="rect">
            <a:avLst/>
          </a:prstGeom>
          <a:solidFill>
            <a:srgbClr val="1F1A14"/>
          </a:solidFill>
          <a:ln w="12700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9236" y="192024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9236" y="2194560"/>
            <a:ext cx="324093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3ECD8"/>
                </a:solidFill>
                <a:latin typeface="Calibri"/>
              </a:rPr>
              <a:t>For professionals. Sidecar API + OpenBB Workspace integration.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926080"/>
            <a:ext cx="3515258" cy="310896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06324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D86B"/>
                </a:solidFill>
                <a:latin typeface="Calibri"/>
              </a:rPr>
              <a:t>ASTROLOGY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A44A"/>
                </a:solidFill>
                <a:latin typeface="Calibri"/>
              </a:rPr>
              <a:t>Wave 9 · 9 modules · 65 tests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Solar Returns (Newton search)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87368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Profections (Hellenistic time-lord)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79976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Planetary returns (Saturn/Jupiter/Mars)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72584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Secondary progressions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65192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9 aspects · 7 patterns · 8 fixed stars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5780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Decans · Sabian Symbols · Eclipses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0408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NASA-grade Swiss Ephemeris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8218" y="2926080"/>
            <a:ext cx="3515258" cy="310896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1098" y="306324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D86B"/>
                </a:solidFill>
                <a:latin typeface="Calibri"/>
              </a:rPr>
              <a:t>DATA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1098" y="333756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A44A"/>
                </a:solidFill>
                <a:latin typeface="Calibri"/>
              </a:rPr>
              <a:t>Wave 7 · 10 native providers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098" y="379476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World Bank · IMF · ECB SDMX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1098" y="4087368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BLS · EIA · CFTC COT · OFR FSI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1098" y="4379976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Treasury Direct · CoinGecko · SEC EDGAR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1098" y="4672584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+ Tiingo · Alpha Vantage · Finnhub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1098" y="4965192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+ GDELT · Polymarket · 25 RSS feeds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1098" y="525780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SQLx compile-time 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1098" y="5550408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Tiered priority refresh queue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36356" y="2926080"/>
            <a:ext cx="3515258" cy="310896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9236" y="306324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D86B"/>
                </a:solidFill>
                <a:latin typeface="Calibri"/>
              </a:rPr>
              <a:t>DESKTOP GUI + SIDECAR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9236" y="3337560"/>
            <a:ext cx="32409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A44A"/>
                </a:solidFill>
                <a:latin typeface="Calibri"/>
              </a:rPr>
              <a:t>Iced 0.14 · wgpu · axum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9236" y="379476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3D natal wheel via WGSL shader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9236" y="4087368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Universal pill notification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9236" y="4379976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Lagrange composite (6 factors)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9236" y="4672584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Backtest with cycle-aligned mode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9236" y="4965192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Paper trading engine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9236" y="5257800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OpenBB Workspace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9236" y="5550408"/>
            <a:ext cx="32409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3ECD8"/>
                </a:solidFill>
                <a:latin typeface="Calibri"/>
              </a:rPr>
              <a:t>·  11 REST endpoints + 7 widgets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Three tiers — Free for the curious, Pro for paper traders, Master for professionals. Three columns = three binaries. Read column headers, then the bold “what” line. Don’t list the bullets aloud.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1:25 — 1:50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WALKTHROUGH · 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9A44A"/>
                </a:solidFill>
                <a:latin typeface="Georgia"/>
              </a:rPr>
              <a:t>Open the dashboard. Universe tab. 2,112 scored tickers.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solidFill>
            <a:srgbClr val="C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0A07"/>
                </a:solidFill>
                <a:latin typeface="Calibri"/>
              </a:rPr>
              <a:t>▶  WORKFLOW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WHAT YOU’RE SEEING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44A"/>
                </a:solidFill>
                <a:latin typeface="Calibri"/>
              </a:rPr>
              <a:t>Sector heat map</a:t>
            </a:r>
            <a:r>
              <a:rPr sz="1400" b="0" i="0">
                <a:solidFill>
                  <a:srgbClr val="F3ECD8"/>
                </a:solidFill>
                <a:latin typeface="Calibri"/>
              </a:rPr>
              <a:t> at top — color-coded by average astro score. Green = optimal, orange = unfavorable.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44A"/>
                </a:solidFill>
                <a:latin typeface="Calibri"/>
              </a:rPr>
              <a:t>2,112-ticker scored universe</a:t>
            </a:r>
            <a:r>
              <a:rPr sz="1400" b="0" i="0">
                <a:solidFill>
                  <a:srgbClr val="F3ECD8"/>
                </a:solidFill>
                <a:latin typeface="Calibri"/>
              </a:rPr>
              <a:t> table sortable by Astro, Lagrange, Concordance, sector.</a:t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44A"/>
                </a:solidFill>
                <a:latin typeface="Calibri"/>
              </a:rPr>
              <a:t>Conc column</a:t>
            </a:r>
            <a:r>
              <a:rPr sz="1400" b="0" i="0">
                <a:solidFill>
                  <a:srgbClr val="F3ECD8"/>
                </a:solidFill>
                <a:latin typeface="Calibri"/>
              </a:rPr>
              <a:t> shows how many of the 6 Lagrange factors agree — that’s the high-conviction signal.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C8B88E"/>
                </a:solidFill>
                <a:latin typeface="Calibri"/>
              </a:rPr>
              <a:t>Click any ticker → full detail in &lt;200ms.</a:t>
            </a:r>
          </a:p>
        </p:txBody>
      </p:sp>
      <p:pic>
        <p:nvPicPr>
          <p:cNvPr id="10" name="Picture 9" descr="universe-explor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1255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Point to the sector heat map first. Then sweep right to the table. Highlight the Conc column — “when 4+ factors agree, that’s the high-conviction signal.” Pick CGCT or any optimal-zone ticker.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1:50 — 2:20 · 30s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WALKTHROUGH · STEP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9A44A"/>
                </a:solidFill>
                <a:latin typeface="Georgia"/>
              </a:rPr>
              <a:t>Six factors converge into one Lagrange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solidFill>
            <a:srgbClr val="C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0A07"/>
                </a:solidFill>
                <a:latin typeface="Calibri"/>
              </a:rPr>
              <a:t>▶  WORKFLOW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5 GAUGES, TOP-ALIGNED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Crypto F&amp;G  ·  Equities F&amp;G  ·  Technical  ·  Astrology  ·  ★ Lagrange composite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CHART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Bollinger Bands · SMA-20 · SMA-50 · volume bars · auto-detected technical patterns (double tops, support/resistance)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90-DAY LAGRANGE HISTORY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Green band = bullish concordance, red = bearish.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C8B88E"/>
                </a:solidFill>
                <a:latin typeface="Calibri"/>
              </a:rPr>
              <a:t>Lagrange = Tech 20% + Sentiment 20% + Short 15% + Insider 15% + Astro 15% + DCF 15%</a:t>
            </a:r>
          </a:p>
        </p:txBody>
      </p:sp>
      <p:pic>
        <p:nvPicPr>
          <p:cNvPr id="10" name="Picture 9" descr="overview-lagran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1255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Sweep across the 5 gauges left-to-right. Land on the Lagrange star. “This is the composite — six independent signals.” Then point to the 90-day history strip. “When this stays green for weeks, that’s structural bullishness, not noise.”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2:20 — 3:00 · 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WALKTHROUGH · STEP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9A44A"/>
                </a:solidFill>
                <a:latin typeface="Georgia"/>
              </a:rPr>
              <a:t>Astrology tab — where this gets serious.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560320" cy="274320"/>
          </a:xfrm>
          <a:prstGeom prst="rect">
            <a:avLst/>
          </a:prstGeom>
          <a:solidFill>
            <a:srgbClr val="C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0A07"/>
                </a:solidFill>
                <a:latin typeface="Calibri"/>
              </a:rPr>
              <a:t>▶  WORKFLOW DEMO (HERO)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11480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YEAR OF VENUS BADGE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AAPL is in its </a:t>
            </a:r>
            <a:r>
              <a:rPr sz="1300" b="1" i="0">
                <a:solidFill>
                  <a:srgbClr val="C9A44A"/>
                </a:solidFill>
                <a:latin typeface="Calibri"/>
              </a:rPr>
              <a:t>Year of Venus (10th house · Libra)</a:t>
            </a:r>
            <a:r>
              <a:rPr sz="1300" b="0" i="0">
                <a:solidFill>
                  <a:srgbClr val="F3ECD8"/>
                </a:solidFill>
                <a:latin typeface="Calibri"/>
              </a:rPr>
              <a:t> — Hellenistic profection has rotated Venus into time-lord. Aspects involving Venus get +50% Lagrange weight all year.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3D NATAL WHEEL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Real-time WGSL shader. 13 bodies. Aspect lines glow by orb-tightness gradient. Hover any planet → tooltip with decan, Sabian, critical degree, OOB.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LIFECYCLE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Solar Return + planetary returns + progressed Sun. All cached — zero per-render compute.</a:t>
            </a:r>
          </a:p>
        </p:txBody>
      </p:sp>
      <p:pic>
        <p:nvPicPr>
          <p:cNvPr id="10" name="Picture 9" descr="astrology-aspect-h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1255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Money slide. Slow down. “AAPL is in its Year of Venus right now — that’s not a number I made up. It’s a 2,000-year-old Hellenistic technique from Antiochus, first century CE.” Then the wheel: “rendered in real-time on the GPU via custom WGSL shader.”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3:00 — 3:25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WALKTHROUGH · STEP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C9A44A"/>
                </a:solidFill>
                <a:latin typeface="Georgia"/>
              </a:rPr>
              <a:t>Universal pill notifications + drawer history.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solidFill>
            <a:srgbClr val="C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F0A07"/>
                </a:solidFill>
                <a:latin typeface="Calibri"/>
              </a:rPr>
              <a:t>▶  WORKFLOW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11480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THREE PILLS, THREE SIGNALS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ACLS → Optimal  ·  MSFT → Optimal  ·  NVDA → Optimal  — Lagrange alerts firing simultaneously.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C9A44A"/>
                </a:solidFill>
                <a:latin typeface="Calibri"/>
              </a:rPr>
              <a:t>Layout NEVER reflows.</a:t>
            </a:r>
            <a:r>
              <a:rPr sz="1300" b="0" i="0">
                <a:solidFill>
                  <a:srgbClr val="F3ECD8"/>
                </a:solidFill>
                <a:latin typeface="Calibri"/>
              </a:rPr>
              <a:t>Pills slot between the tab strip’s right spacer and the bell. Push-down bug killed forever.</a:t>
            </a:r>
          </a:p>
          <a:p>
            <a:pPr algn="l">
              <a:lnSpc>
                <a:spcPct val="130000"/>
              </a:lnSpc>
            </a:pPr>
            <a:r>
              <a:rPr sz="4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Click pill → routes + dismisses in one click.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Click bell → 24h history. Clear all = wipe.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C8B88E"/>
                </a:solidFill>
                <a:latin typeface="Calibri"/>
              </a:rPr>
              <a:t>Bell rocks 2.4s when active count &gt; 0. Custom Canvas widget — no Phosphor codepoint guessing.</a:t>
            </a:r>
          </a:p>
        </p:txBody>
      </p:sp>
      <p:pic>
        <p:nvPicPr>
          <p:cNvPr id="10" name="Picture 9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03120"/>
            <a:ext cx="6858000" cy="41255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Quick on this slide. “Three Optimal alerts firing at once — layout never moves. That’s intentional engineering. Click any pill, it routes + dismisses. Click the bell, full 24-hour history.” Move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3:25 — 3:55 · 30s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THE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115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6FA86B"/>
                </a:solidFill>
                <a:latin typeface="Georgia"/>
              </a:rPr>
              <a:t>+37.06%</a:t>
            </a:r>
            <a:r>
              <a:rPr sz="3000" b="1" i="0">
                <a:solidFill>
                  <a:srgbClr val="C9A44A"/>
                </a:solidFill>
                <a:latin typeface="Georgia"/>
              </a:rPr>
              <a:t>  return on $100K virtual capital.  </a:t>
            </a:r>
            <a:r>
              <a:rPr sz="2200" b="0" i="1">
                <a:solidFill>
                  <a:srgbClr val="C8B88E"/>
                </a:solidFill>
                <a:latin typeface="Calibri"/>
              </a:rPr>
              <a:t>35 trades. Live forward-test.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429768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FD86B"/>
                </a:solidFill>
                <a:latin typeface="Calibri"/>
              </a:rPr>
              <a:t>LIVE PAPER TRADING ENGINE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Starts with $100,000. Auto-opens at Lagrange &gt; 65, exits at &lt; 35 or 15% trailing stop.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6FA86B"/>
                </a:solidFill>
                <a:latin typeface="Calibri"/>
              </a:rPr>
              <a:t>Total Value: $137,055.11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6FA86B"/>
                </a:solidFill>
                <a:latin typeface="Calibri"/>
              </a:rPr>
              <a:t>Total Return: +37.06%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C8B88E"/>
                </a:solidFill>
                <a:latin typeface="Calibri"/>
              </a:rPr>
              <a:t>35 trades  ·  last simulation 2026-05-05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3ECD8"/>
                </a:solidFill>
                <a:latin typeface="Calibri"/>
              </a:rPr>
              <a:t>Open positions visible in screenshot:</a:t>
            </a:r>
          </a:p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FA86B"/>
                </a:solidFill>
                <a:latin typeface="Calibri"/>
              </a:rPr>
              <a:t>  · ABSI +50.63%  · BLSH +17.39%  · AMBA +14.47%  · BUUU +26.60%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C8B88E"/>
                </a:solidFill>
                <a:latin typeface="Calibri"/>
              </a:rPr>
              <a:t>Astrology is one of six inputs. The Lagrange strategy that produced this return uses it actively. Not cherry-picked from history — running every day on real data.</a:t>
            </a:r>
          </a:p>
        </p:txBody>
      </p:sp>
      <p:pic>
        <p:nvPicPr>
          <p:cNvPr id="8" name="Picture 7" descr="paper-trail-37p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103120"/>
            <a:ext cx="6675120" cy="40155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Kill shot. Slow down. “$100,000 virtual capital. Plus thirty-seven percent return. Thirty-five trades. The Lagrange strategy uses astrology as one of six inputs.” Pause. “This isn’t a backtest cherry-picked from history. It’s a live forward-testing engine.”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3:55 — 4:15 · 20s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THE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C9A44A"/>
                </a:solidFill>
                <a:latin typeface="Georgia"/>
              </a:rPr>
              <a:t>Don’t believe.  Measure.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F3ECD8"/>
                </a:solidFill>
                <a:latin typeface="Calibri"/>
              </a:rPr>
              <a:t>The thesis isn’t “believe in astrology.” The thesis is — financial astrology has a documented 100-year track record at the highest levels of Wall Street. Until now, the techniques weren’t reproducible at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10911535" cy="1371600"/>
          </a:xfrm>
          <a:prstGeom prst="rect">
            <a:avLst/>
          </a:prstGeom>
          <a:solidFill>
            <a:srgbClr val="1F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572000"/>
            <a:ext cx="54864" cy="1371600"/>
          </a:xfrm>
          <a:prstGeom prst="rect">
            <a:avLst/>
          </a:prstGeom>
          <a:solidFill>
            <a:srgbClr val="C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709160"/>
            <a:ext cx="1068293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FD86B"/>
                </a:solidFill>
                <a:latin typeface="Calibri"/>
              </a:rPr>
              <a:t>Pursuit Astro</a:t>
            </a:r>
            <a:r>
              <a:rPr sz="1400" b="0" i="0">
                <a:solidFill>
                  <a:srgbClr val="F3ECD8"/>
                </a:solidFill>
                <a:latin typeface="Calibri"/>
              </a:rPr>
              <a:t> is the first open implementation of Hellenistic financial astrology with engineering rigor: NASA-grade Swiss Eph precision, 132 unit tests against AAPL’s natal chart, a backtest engine with cycle-aligned mode (Saturn / Jupiter return zones).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3ECD8"/>
                </a:solidFill>
                <a:latin typeface="Calibri"/>
              </a:rPr>
              <a:t>Don’t take J.P. Morgan’s word for it. Don’t take W.D. Gann’s. </a:t>
            </a:r>
            <a:r>
              <a:rPr sz="1400" b="1" i="1">
                <a:solidFill>
                  <a:srgbClr val="FFD86B"/>
                </a:solidFill>
                <a:latin typeface="Calibri"/>
              </a:rPr>
              <a:t>Run the backtest yourself.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Slow down. Philosophical pivot. “The thesis isn’t believe — it’s measure.” Pause. Let it land. Then close: “Run the backtest yourself.”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4:15 — 4:35 · 20s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TECH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9A44A"/>
                </a:solidFill>
                <a:latin typeface="Georgia"/>
              </a:rPr>
              <a:t>30 days  ·  solo  ·  production-grade.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2590723" cy="182880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5907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9A44A"/>
                </a:solidFill>
                <a:latin typeface="Georgia"/>
              </a:rPr>
              <a:t>25k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B88E"/>
                </a:solidFill>
                <a:latin typeface="Calibri"/>
              </a:rPr>
              <a:t>LINES OF RUST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683" y="2011680"/>
            <a:ext cx="2590723" cy="182880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377440"/>
            <a:ext cx="25907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9A44A"/>
                </a:solidFill>
                <a:latin typeface="Georgia"/>
              </a:rPr>
              <a:t>140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3683" y="3337560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B88E"/>
                </a:solidFill>
                <a:latin typeface="Calibri"/>
              </a:rPr>
              <a:t>UNIT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7287" y="2011680"/>
            <a:ext cx="2590723" cy="182880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7287" y="2377440"/>
            <a:ext cx="25907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9A44A"/>
                </a:solidFill>
                <a:latin typeface="Georgia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337560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B88E"/>
                </a:solidFill>
                <a:latin typeface="Calibri"/>
              </a:rPr>
              <a:t>NATIVE PROVIDERS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0891" y="2011680"/>
            <a:ext cx="2590723" cy="182880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0891" y="2377440"/>
            <a:ext cx="25907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9A44A"/>
                </a:solidFill>
                <a:latin typeface="Georgia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0891" y="3337560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B88E"/>
                </a:solidFill>
                <a:latin typeface="Calibri"/>
              </a:rPr>
              <a:t>ASTROLOGY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2590723" cy="182880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389120"/>
            <a:ext cx="25907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9A44A"/>
                </a:solidFill>
                <a:latin typeface="Georgia"/>
              </a:rPr>
              <a:t>46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49240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B88E"/>
                </a:solidFill>
                <a:latin typeface="Calibri"/>
              </a:rPr>
              <a:t>SQL MIGRATIONS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3683" y="4023360"/>
            <a:ext cx="2590723" cy="182880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3683" y="4389120"/>
            <a:ext cx="25907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9A44A"/>
                </a:solidFill>
                <a:latin typeface="Georgia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5349240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B88E"/>
                </a:solidFill>
                <a:latin typeface="Calibri"/>
              </a:rPr>
              <a:t>GPU SHADERS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87287" y="4023360"/>
            <a:ext cx="2590723" cy="182880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7287" y="4389120"/>
            <a:ext cx="25907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9A44A"/>
                </a:solidFill>
                <a:latin typeface="Georgia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5349240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B88E"/>
                </a:solidFill>
                <a:latin typeface="Calibri"/>
              </a:rPr>
              <a:t>BINARIES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0891" y="4023360"/>
            <a:ext cx="2590723" cy="1828800"/>
          </a:xfrm>
          <a:prstGeom prst="rect">
            <a:avLst/>
          </a:prstGeom>
          <a:solidFill>
            <a:srgbClr val="1F1A14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0891" y="4389120"/>
            <a:ext cx="259072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 i="0">
                <a:solidFill>
                  <a:srgbClr val="C9A44A"/>
                </a:solidFill>
                <a:latin typeface="Georgia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0891" y="5349240"/>
            <a:ext cx="259072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8B88E"/>
                </a:solidFill>
                <a:latin typeface="Calibri"/>
              </a:rPr>
              <a:t>COMPILER WARNINGS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Read the numbers fast in sequence — they hit harder rapid. End on “zero compiler warnings.” That’s the engineering credibility punch.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4:35 — 4:55 · 20s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D86B"/>
                </a:solidFill>
                <a:latin typeface="Calibri"/>
              </a:rPr>
              <a:t>WHAT THIS COULD 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9A44A"/>
                </a:solidFill>
                <a:latin typeface="Georgia"/>
              </a:rPr>
              <a:t>Charting Capital  —  the platform play.</a:t>
            </a:r>
          </a:p>
        </p:txBody>
      </p:sp>
      <p:pic>
        <p:nvPicPr>
          <p:cNvPr id="7" name="Picture 6" descr="charting-capital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029200" cy="30253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0" y="1828800"/>
            <a:ext cx="5425135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F3ECD8"/>
                </a:solidFill>
                <a:latin typeface="Calibri"/>
              </a:rPr>
              <a:t>Pursuit Astro is the engine. </a:t>
            </a:r>
            <a:r>
              <a:rPr sz="1600" b="1" i="0">
                <a:solidFill>
                  <a:srgbClr val="FFD86B"/>
                </a:solidFill>
                <a:latin typeface="Calibri"/>
              </a:rPr>
              <a:t>Charting Capital</a:t>
            </a:r>
            <a:r>
              <a:rPr sz="1600" b="0" i="0">
                <a:solidFill>
                  <a:srgbClr val="F3ECD8"/>
                </a:solidFill>
                <a:latin typeface="Calibri"/>
              </a:rPr>
              <a:t> is the brand — a financial intelligence platform at the intersection of astrology and Wall Street.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C8B88E"/>
                </a:solidFill>
                <a:latin typeface="Calibri"/>
              </a:rPr>
              <a:t>The infrastructure is already production-tier. The question isn’t </a:t>
            </a:r>
            <a:r>
              <a:rPr sz="1300" b="0" i="1">
                <a:solidFill>
                  <a:srgbClr val="C8B88E"/>
                </a:solidFill>
                <a:latin typeface="Calibri"/>
              </a:rPr>
              <a:t>can it ship</a:t>
            </a:r>
            <a:r>
              <a:rPr sz="1300" b="0" i="0">
                <a:solidFill>
                  <a:srgbClr val="C8B88E"/>
                </a:solidFill>
                <a:latin typeface="Calibri"/>
              </a:rPr>
              <a:t>. The question is </a:t>
            </a:r>
            <a:r>
              <a:rPr sz="1300" b="0" i="1">
                <a:solidFill>
                  <a:srgbClr val="C8B88E"/>
                </a:solidFill>
                <a:latin typeface="Calibri"/>
              </a:rPr>
              <a:t>what audience first</a:t>
            </a:r>
            <a:r>
              <a:rPr sz="1300" b="0" i="0">
                <a:solidFill>
                  <a:srgbClr val="C8B88E"/>
                </a:solidFill>
                <a:latin typeface="Calibri"/>
              </a:rPr>
              <a:t>:</a:t>
            </a:r>
          </a:p>
          <a:p>
            <a:pPr algn="l">
              <a:lnSpc>
                <a:spcPct val="14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3ECD8"/>
                </a:solidFill>
                <a:latin typeface="Calibri"/>
              </a:rPr>
              <a:t>▸  Retail traders  —  desktop tier ($29/mo)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3ECD8"/>
                </a:solidFill>
                <a:latin typeface="Calibri"/>
              </a:rPr>
              <a:t>▸  Institutional newsletters  —  sidecar API ($1,200/yr precedent)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3ECD8"/>
                </a:solidFill>
                <a:latin typeface="Calibri"/>
              </a:rPr>
              <a:t>▸  Astrology-curious finance professionals  —  the W.D. Gann tradition revived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“Pursuit Astro is the engine. Charting Capital is the brand.” Three audiences = three monetization paths. Don’t dwell — forward-looking, not prescriptive.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0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0F0A07"/>
          </a:solidFill>
          <a:ln w="9525">
            <a:solidFill>
              <a:srgbClr val="8C7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C7D57"/>
                </a:solidFill>
                <a:latin typeface="Calibri"/>
              </a:rPr>
              <a:t>4:55 — 5:00 · 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8C7D57"/>
                </a:solidFill>
                <a:latin typeface="Calibri"/>
              </a:rPr>
              <a:t>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 i="1">
                <a:solidFill>
                  <a:srgbClr val="F3ECD8"/>
                </a:solidFill>
                <a:latin typeface="Georgia"/>
              </a:rPr>
              <a:t>“The stars charted the careers of </a:t>
            </a:r>
            <a:r>
              <a:rPr sz="3000" b="1" i="1">
                <a:solidFill>
                  <a:srgbClr val="FFD86B"/>
                </a:solidFill>
                <a:latin typeface="Georgia"/>
              </a:rPr>
              <a:t>Morgan</a:t>
            </a:r>
            <a:r>
              <a:rPr sz="3000" b="0" i="1">
                <a:solidFill>
                  <a:srgbClr val="F3ECD8"/>
                </a:solidFill>
                <a:latin typeface="Georgia"/>
              </a:rPr>
              <a:t>, </a:t>
            </a:r>
            <a:r>
              <a:rPr sz="3000" b="1" i="1">
                <a:solidFill>
                  <a:srgbClr val="FFD86B"/>
                </a:solidFill>
                <a:latin typeface="Georgia"/>
              </a:rPr>
              <a:t>Gann</a:t>
            </a:r>
            <a:r>
              <a:rPr sz="3000" b="0" i="1">
                <a:solidFill>
                  <a:srgbClr val="F3ECD8"/>
                </a:solidFill>
                <a:latin typeface="Georgia"/>
              </a:rPr>
              <a:t>, and </a:t>
            </a:r>
            <a:r>
              <a:rPr sz="3000" b="1" i="1">
                <a:solidFill>
                  <a:srgbClr val="FFD86B"/>
                </a:solidFill>
                <a:latin typeface="Georgia"/>
              </a:rPr>
              <a:t>Crawford</a:t>
            </a:r>
            <a:r>
              <a:rPr sz="3000" b="0" i="1">
                <a:solidFill>
                  <a:srgbClr val="F3ECD8"/>
                </a:solidFill>
                <a:latin typeface="Georgia"/>
              </a:rPr>
              <a:t>.</a:t>
            </a:r>
          </a:p>
          <a:p>
            <a:pPr algn="ctr">
              <a:lnSpc>
                <a:spcPct val="130000"/>
              </a:lnSpc>
            </a:pPr>
            <a:r>
              <a:rPr sz="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3000" b="0" i="1">
                <a:solidFill>
                  <a:srgbClr val="F3ECD8"/>
                </a:solidFill>
                <a:latin typeface="Georgia"/>
              </a:rPr>
              <a:t>They’re charting mine too.</a:t>
            </a:r>
          </a:p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3ECD8"/>
                </a:solidFill>
                <a:latin typeface="Calibri"/>
              </a:rPr>
              <a:t/>
            </a:r>
          </a:p>
          <a:p>
            <a:pPr algn="ctr">
              <a:lnSpc>
                <a:spcPct val="130000"/>
              </a:lnSpc>
            </a:pPr>
            <a:r>
              <a:rPr sz="3000" b="0" i="1">
                <a:solidFill>
                  <a:srgbClr val="F3ECD8"/>
                </a:solidFill>
                <a:latin typeface="Georgia"/>
              </a:rPr>
              <a:t>And I’m building the tool that charts everyone else’s.”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1153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0" i="1">
                <a:solidFill>
                  <a:srgbClr val="F3ECD8"/>
                </a:solidFill>
                <a:latin typeface="Georgia"/>
              </a:rPr>
              <a:t>Whether you came for the horoscope or stayed for the P&amp;L,</a:t>
            </a:r>
          </a:p>
          <a:p>
            <a:pPr algn="ctr">
              <a:lnSpc>
                <a:spcPct val="140000"/>
              </a:lnSpc>
            </a:pPr>
            <a:r>
              <a:rPr sz="1800" b="0" i="1">
                <a:solidFill>
                  <a:srgbClr val="F3ECD8"/>
                </a:solidFill>
                <a:latin typeface="Georgia"/>
              </a:rPr>
              <a:t>the cosmos has been moving markets the whole time.</a:t>
            </a:r>
          </a:p>
          <a:p>
            <a:pPr algn="ctr">
              <a:lnSpc>
                <a:spcPct val="140000"/>
              </a:lnSpc>
            </a:pPr>
            <a:r>
              <a:rPr sz="2200" b="1" i="0">
                <a:solidFill>
                  <a:srgbClr val="FFD86B"/>
                </a:solidFill>
                <a:latin typeface="Georgia"/>
              </a:rPr>
              <a:t>We’re just the first to put it on one screen.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C8B88E"/>
                </a:solidFill>
                <a:latin typeface="Calibri"/>
              </a:rPr>
              <a:t>AISLING LEIVA  ·  CHARTING CAPITAL  ·  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989320"/>
            <a:ext cx="11277295" cy="9525"/>
          </a:xfrm>
          <a:prstGeom prst="rect">
            <a:avLst/>
          </a:prstGeom>
          <a:solidFill>
            <a:srgbClr val="8C7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62472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8C7D57"/>
                </a:solidFill>
                <a:latin typeface="Calibri"/>
              </a:rPr>
              <a:t>🎤  Memorize verbatim. Deliver slow. Final beat: “We’re just the first to put it on one screen.” Pause. Smile. Take questions. Don’t say “thanks for listening.”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